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9" r:id="rId13"/>
    <p:sldId id="266" r:id="rId14"/>
    <p:sldId id="270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ff7316afeeb20445" providerId="LiveId" clId="{0C990DDA-4A94-454C-A351-27D2D4DF029D}"/>
    <pc:docChg chg="undo custSel modSld">
      <pc:chgData name="" userId="ff7316afeeb20445" providerId="LiveId" clId="{0C990DDA-4A94-454C-A351-27D2D4DF029D}" dt="2026-10-04T19:48:18.684" v="32" actId="20577"/>
      <pc:docMkLst>
        <pc:docMk/>
      </pc:docMkLst>
      <pc:sldChg chg="modSp mod">
        <pc:chgData name="" userId="ff7316afeeb20445" providerId="LiveId" clId="{0C990DDA-4A94-454C-A351-27D2D4DF029D}" dt="2026-10-04T19:06:37.842" v="1" actId="1037"/>
        <pc:sldMkLst>
          <pc:docMk/>
          <pc:sldMk cId="0" sldId="260"/>
        </pc:sldMkLst>
        <pc:spChg chg="mod">
          <ac:chgData name="" userId="ff7316afeeb20445" providerId="LiveId" clId="{0C990DDA-4A94-454C-A351-27D2D4DF029D}" dt="2026-10-04T19:06:37.842" v="1" actId="1037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" userId="ff7316afeeb20445" providerId="LiveId" clId="{0C990DDA-4A94-454C-A351-27D2D4DF029D}" dt="2026-10-04T19:44:27.972" v="10" actId="20577"/>
        <pc:sldMkLst>
          <pc:docMk/>
          <pc:sldMk cId="0" sldId="264"/>
        </pc:sldMkLst>
        <pc:spChg chg="mod">
          <ac:chgData name="" userId="ff7316afeeb20445" providerId="LiveId" clId="{0C990DDA-4A94-454C-A351-27D2D4DF029D}" dt="2026-10-04T19:44:27.972" v="10" actId="20577"/>
          <ac:spMkLst>
            <pc:docMk/>
            <pc:sldMk cId="0" sldId="264"/>
            <ac:spMk id="29" creationId="{00000000-0000-0000-0000-000000000000}"/>
          </ac:spMkLst>
        </pc:spChg>
      </pc:sldChg>
      <pc:sldChg chg="modSp mod">
        <pc:chgData name="" userId="ff7316afeeb20445" providerId="LiveId" clId="{0C990DDA-4A94-454C-A351-27D2D4DF029D}" dt="2026-10-04T19:48:18.684" v="32" actId="20577"/>
        <pc:sldMkLst>
          <pc:docMk/>
          <pc:sldMk cId="0" sldId="268"/>
        </pc:sldMkLst>
        <pc:spChg chg="mod">
          <ac:chgData name="" userId="ff7316afeeb20445" providerId="LiveId" clId="{0C990DDA-4A94-454C-A351-27D2D4DF029D}" dt="2026-10-04T19:48:18.684" v="32" actId="20577"/>
          <ac:spMkLst>
            <pc:docMk/>
            <pc:sldMk cId="0" sldId="268"/>
            <ac:spMk id="4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145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(75 min total): setup 10 min, warm-up 10 min, get files 3 min, Task 1 15 min, Task 2 17 min, Task 3 17 min, wrap-up 3 min.
Say: the professor covered the theory in the lecture; today everyone types the commands themselves. Nobody writes C from scratch - we only read code and change one or two lines.
Before class: check that github.com/uhuseynov/sdo-docker-lab is public and shows the three task folders.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show of hands: who still needs to install Docker? Those students start now, a TA walks over to them.
Windows: Docker Desktop needs WSL 2 and Windows 10 22H2 or Windows 11 23H2+, with virtualization enabled in BIOS. If 'wsl --install' says it is already installed, just continue.
macOS: the Apple-silicon and Intel installers are different - check the chip first.
Linux: get.docker.com is Docker's official convenience script (Ubuntu, Debian, Fedora ...). After 'usermod' the group change only works after logging out and in again.
Official docs: docs.docker.com/get-started/get-docker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runs the four commands. 'docker run hello-world' prints 'Hello from Docker!' when everything works.
Make sure EVERYONE starts 'docker pull gcc' now, before the warm-up questions. The gcc:latest image is about 535 MB compressed; with 30+ students on the same Wi-Fi it can take several minutes. While it downloads we do the warm-up.
Cannot connect to the Docker daemon: Docker Desktop is not running (macOS: 'open -a Docker'; Linux: 'sudo systemctl start docker').
permission denied on /var/run/docker.sock: the usermod group change needs a new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 minutes of pair discussion (the gcc download keeps running in the background). Then ask 2-3 students per question before showing the answer slides. Accept any reasonable wording - the goal is recall, not exact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idea: the image contains the app AND its environment, so it behaves the same on every machine.
Point to today's tasks: nobody needs gcc installed locally - Windows users included. The gcc compiler comes from the gcc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lecture's analogy: the image is the recipe, the container is the cookie you can eat. One recipe - many cookies.
The layers on the left are exactly the layers students will build in Task 1 (FROM gcc, WORKDIR /app, COPY + RUN). That is why rebuilding after a small change is fast: unchanged layers come from the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Namespaces and cgroups were on the lecture's 'Docker Engine Process' slide: namespaces isolate what a container can see (processes, files, network), cgroups limit what it can use (CPU, memory).
Trade-off: VMs give stronger isolation and can run a different OS kernel; containers are lighter and faster. In practice both are used together (containers inside cloud VMs).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Repository: https://github.com/uhuseynov/sdo-docker-lab (public, so students can clone it).
Students commit after every task. They do NOT push (they have no write access to the TA repo) - the commits are only local practice.
If 'git commit' asks 'Please tell me who you are': git config --global user.name "Name" and git config --global user.email "mail".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(task1-hello/Dockerfile):
FROM gcc:latest
WORKDIR /app
COPY hello.c .
RUN gcc -o hello hello.c
CMD ["./hello"]
Note: the slide shows the Dockerfile without its blank lines; the real file has a blank line between the steps.
Step 5 (layer caching): after changing hello.c and rebuilding, the WORKDIR step shows CACHED, while COPY and RUN run again - because the copied file changed, every layer after it is rebuilt.
The gcc version line comes from the gcc INSIDE the image (gcc:latest is currently 16.2), not from the laptop - many students have no gcc installed at all.
Common errors: 'failed to parse stage name "____"' = blanks still empty. 'COPY failed: file not found' = wrong filename or not inside task1-hello.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this slide only when most students are done (or time is up).</a:t>
            </a:r>
          </a:p>
          <a:p>
            <a:endParaRPr/>
          </a:p>
          <a:p>
            <a:r>
              <a:t>Also correct: FROM gcc (without :latest).</a:t>
            </a:r>
          </a:p>
          <a:p>
            <a:r>
              <a:t>Common mistake: CMD ["hello"] without ./ builds fine but fails at run time with 'exec: "hello": executable file not found in $PATH', because /app is not in PATH.</a:t>
            </a:r>
          </a:p>
          <a:p>
            <a:r>
              <a:t>COPY needs the exact file name hello.c.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3: without -it the container has no keyboard (stdin), so scanf reads nothing and the program prints its warning. That is why interactive programs need -it.
SOLUTION (converter.c, line 17):
  bug:  float fahrenheit = celsius * (9 / 5) + 32;   // 9 / 5 is integer division = 1
  fix:  float fahrenheit = celsius * 9.0 / 5.0 + 32;
Check: 100 -&gt; 212.0 F, 37 -&gt; 98.6 F, -40 -&gt; -40.0 F.
Git Bash (mintty) on Windows may print 'the input device is not a TTY'. Use PowerShell, or prefix: winpty docker run -it converter.
Extra question for fast students: run 'docker ps -a' - why are the finished containers still listed? (A stopped container is kept until you remove it with docker rm.)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Also correct: celsius * 9 / 5 + 32 (celsius is a float, so the multiplication happens first in float), 9.0 / 5, or 1.8.</a:t>
            </a:r>
          </a:p>
          <a:p>
            <a:endParaRPr/>
          </a:p>
          <a:p>
            <a:r>
              <a:t>If a student's result is still 132: they probably did not rebuild the image after editing - run docker build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only change the text inside the quotes on line 16 - nothing else. If a student breaks the quotes or the semicolon, gcc fails during 'docker build': read the error together.
Expected: the browser shows their message and 'You are visitor number N.' Every refresh prints 'Answered visitor number N' in the terminal (these are the container's logs).
Ctrl+C stops the server immediately (the program handles the stop signal).
'port is already allocated': another program uses 8000 - try -p 8001:8080 and open localhost:8001.
Link to the lecture slide 'Docker run': there the example was -p 80:8080 - same rule, HostPort:ContainerPort.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Page does not load? Check that (1) the terminal says 'Server is listening', (2) the order is -p 8000:8080 (HostPort:ContainerPort), (3) they open http://localhost:8000 - not 8080.</a:t>
            </a:r>
          </a:p>
          <a:p>
            <a:endParaRPr/>
          </a:p>
          <a:p>
            <a:r>
              <a:t>Build error after editing: usually a missing quote or semicolon on line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in one sentence: build turns a Dockerfile into an image, run turns an image into a container.
Extra 1 mirrors the lecture slide 'docker run -it c-app:1.0 bash': bash replaces the CMD, and you land in /app next to hello.c and the compiled hello.
Extra 2: -d = detached (runs in the background). The first 3-4 characters of the CONTAINER ID from docker ps are enough for &lt;ID&gt;. docker logs &lt;ID&gt; shows the visitor lines, docker stop &lt;ID&gt; stops it.
Extra 3: each container is isolated and has its own memory, so each has its own counter - one recipe, two separate cookies.
Clean-up tip for students with little disk space: docker images, then docker rmi &lt;image&gt; (the gcc image is large).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products/docker-deskto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#LEARNdocker illustration: Docker whales and friends working in an 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400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6400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Tutorial  |  TA: Umid Huseynov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00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Docker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installed yet? Please install it now.  </a:t>
            </a:r>
            <a:r>
              <a:rPr lang="en-US" sz="1900" b="1" dirty="0">
                <a:solidFill>
                  <a:srgbClr val="E04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Raise your hand and ask a TA!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2039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0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80360" y="1865376"/>
            <a:ext cx="219456" cy="21945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2880360" y="18653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847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PowerShell as Administrator and run:   </a:t>
            </a:r>
            <a:r>
              <a:rPr lang="en-US" sz="145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wsl --install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2880360" y="2139696"/>
            <a:ext cx="219456" cy="21945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2880360" y="21396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121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your laptop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2880360" y="2414016"/>
            <a:ext cx="219456" cy="21945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2880360" y="24140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2395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install Docker Desktop:   </a:t>
            </a:r>
            <a:r>
              <a:rPr lang="en-US" sz="1550" u="sng" dirty="0">
                <a:solidFill>
                  <a:srgbClr val="00438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docker.com/products/docker-desktop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2880360" y="2688336"/>
            <a:ext cx="219456" cy="21945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880360" y="26883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2670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Docker Desktop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48640" y="3264408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2296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023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880360" y="3438144"/>
            <a:ext cx="219456" cy="21945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880360" y="34381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246120" y="34198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chip:  Apple menu → About This Mac  (Apple silicon or Intel)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2880360" y="3712464"/>
            <a:ext cx="219456" cy="21945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2880360" y="3712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246120" y="36941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matching Docker Desktop:   </a:t>
            </a:r>
            <a:r>
              <a:rPr lang="en-US" sz="1550" u="sng" dirty="0">
                <a:solidFill>
                  <a:srgbClr val="00438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docker.com/products/docker-desktop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2880360" y="3986784"/>
            <a:ext cx="219456" cy="21945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2880360" y="39867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246120" y="39684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Docker.dmg and drag Docker into Applications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2880360" y="4261104"/>
            <a:ext cx="219456" cy="21945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2880360" y="4261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246120" y="4242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Docker:   </a:t>
            </a:r>
            <a:r>
              <a:rPr lang="en-US" sz="145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-a Docker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548640" y="4837176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822960" y="5184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2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5596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880360" y="5010912"/>
            <a:ext cx="219456" cy="21945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2880360" y="50109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246120" y="4992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install script:   </a:t>
            </a:r>
            <a:r>
              <a:rPr lang="en-US" sz="145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https://get.docker.com -o docker.sh</a:t>
            </a:r>
            <a:endParaRPr lang="en-US" sz="1550" dirty="0"/>
          </a:p>
        </p:txBody>
      </p:sp>
      <p:sp>
        <p:nvSpPr>
          <p:cNvPr id="40" name="Shape 38"/>
          <p:cNvSpPr/>
          <p:nvPr/>
        </p:nvSpPr>
        <p:spPr>
          <a:xfrm>
            <a:off x="2880360" y="5285232"/>
            <a:ext cx="219456" cy="21945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2880360" y="5285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3246120" y="5266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  </a:t>
            </a:r>
            <a:r>
              <a:rPr lang="en-US" sz="145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sh docker.sh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2880360" y="5559552"/>
            <a:ext cx="219456" cy="21945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880360" y="55595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3246120" y="55412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Docker without sudo:   </a:t>
            </a:r>
            <a:r>
              <a:rPr lang="en-US" sz="145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usermod -aG docker $USER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2880360" y="5833872"/>
            <a:ext cx="219456" cy="21945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2880360" y="5833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3246120" y="58155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 and log in again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54864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5943600" y="6400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Tutorial  |  TA: Umid Huseynov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11274552" y="6400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setup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492240" cy="2880360"/>
          </a:xfrm>
          <a:prstGeom prst="roundRect">
            <a:avLst>
              <a:gd name="adj" fmla="val 2540"/>
            </a:avLst>
          </a:prstGeom>
          <a:solidFill>
            <a:srgbClr val="2E3641"/>
          </a:solidFill>
          <a:ln w="12700">
            <a:solidFill>
              <a:srgbClr val="2E36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850392" cy="256032"/>
          </a:xfrm>
          <a:prstGeom prst="rect">
            <a:avLst/>
          </a:prstGeom>
          <a:solidFill>
            <a:srgbClr val="3B4452"/>
          </a:solidFill>
          <a:ln w="12700">
            <a:solidFill>
              <a:srgbClr val="3B44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14173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61264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r>
              <a:rPr lang="en-US" sz="14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is Docker installed?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r>
              <a:rPr lang="en-US" sz="14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# is Docker running?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hello-world</a:t>
            </a:r>
            <a:r>
              <a:rPr lang="en-US" sz="14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can it run containers?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r>
              <a:rPr lang="en-US" sz="14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# is Git installed?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gcc</a:t>
            </a:r>
            <a:r>
              <a:rPr lang="en-US" sz="14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# the C compiler image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6492240" cy="1280160"/>
          </a:xfrm>
          <a:prstGeom prst="roundRect">
            <a:avLst>
              <a:gd name="adj" fmla="val 7143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822960" y="448056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</a:t>
            </a:r>
            <a:r>
              <a:rPr lang="en-US" sz="1800" b="1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gcc</a:t>
            </a: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right now!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big download (about 500 MB) and all three tasks need it.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1325880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“Hello from Docker!”?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691640"/>
            <a:ext cx="4236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ready.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2331720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went wrong?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06640" y="2834640"/>
            <a:ext cx="4236415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7589520" y="2834640"/>
            <a:ext cx="3962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“Cannot connect to the Docker daemon”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Start Docker Desktop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406640" y="3822192"/>
            <a:ext cx="4236415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589520" y="3822192"/>
            <a:ext cx="3962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“permission denied” (Linux)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 out and log in again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06640" y="4809744"/>
            <a:ext cx="4236415" cy="822960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7589520" y="4809744"/>
            <a:ext cx="3962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E04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Ask a TA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6400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Tutorial  |  TA: Umid Huseynov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00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Warm-up: what do you remember?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5258" cy="3657600"/>
          </a:xfrm>
          <a:prstGeom prst="roundRect">
            <a:avLst>
              <a:gd name="adj" fmla="val 260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68680" y="164592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0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Docker, and why do we use it?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29768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“it works on my machine…”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38218" y="1417320"/>
            <a:ext cx="3515258" cy="3657600"/>
          </a:xfrm>
          <a:prstGeom prst="roundRect">
            <a:avLst>
              <a:gd name="adj" fmla="val 260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658258" y="164592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0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658258" y="260604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difference between an image and a container?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58258" y="429768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cookie recipe?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797" y="1417320"/>
            <a:ext cx="3515258" cy="3657600"/>
          </a:xfrm>
          <a:prstGeom prst="roundRect">
            <a:avLst>
              <a:gd name="adj" fmla="val 2601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8447837" y="164592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04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8447837" y="2606040"/>
            <a:ext cx="28751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a container different from a virtual machine?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447837" y="429768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what does each one need to start?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your neighbour for 3 minutes</a:t>
            </a:r>
            <a:r>
              <a:rPr lang="en-US" sz="19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then we compare answers together.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6400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Tutorial  |  TA: Umid Huseynov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00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Docker, and why do we use it?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packs an app together with </a:t>
            </a:r>
            <a:r>
              <a:rPr lang="en-US" sz="2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it needs</a:t>
            </a:r>
            <a:r>
              <a:rPr lang="en-US" sz="2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code, libraries, tools and settings — into a </a:t>
            </a:r>
            <a:r>
              <a:rPr lang="en-US" sz="2100" b="1" dirty="0">
                <a:solidFill>
                  <a:srgbClr val="E04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r>
              <a:rPr lang="en-US" sz="2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runs the same way on every computer.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3520440"/>
            <a:ext cx="50292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3175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333756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02336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E04130"/>
          </a:solidFill>
          <a:ln w="12700">
            <a:solidFill>
              <a:srgbClr val="E041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868680" y="4023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154680" y="402336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004381"/>
          </a:solidFill>
          <a:ln w="12700">
            <a:solidFill>
              <a:srgbClr val="004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154680" y="4023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493776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004381"/>
          </a:solidFill>
          <a:ln w="12700">
            <a:solidFill>
              <a:srgbClr val="004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868680" y="4937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compiler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154680" y="493776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004381"/>
          </a:solidFill>
          <a:ln w="12700">
            <a:solidFill>
              <a:srgbClr val="0043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3154680" y="4937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89320" y="1325880"/>
            <a:ext cx="268970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217920" y="1600200"/>
            <a:ext cx="2232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everywhere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03120"/>
            <a:ext cx="22325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on Windows, macOS and Linux — no more “it works on my machine”.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953348" y="1325880"/>
            <a:ext cx="268970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181948" y="1600200"/>
            <a:ext cx="2232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install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181948" y="2103120"/>
            <a:ext cx="22325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compile C without gcc on your laptop: gcc lives inside the image.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989320" y="3840480"/>
            <a:ext cx="268970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217920" y="4114800"/>
            <a:ext cx="2232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light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4617720"/>
            <a:ext cx="22325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starts in seconds, because it shares the host’s kernel.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8953348" y="3840480"/>
            <a:ext cx="268970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9181948" y="4114800"/>
            <a:ext cx="2232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2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share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181948" y="4617720"/>
            <a:ext cx="22325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an image on Docker Hub and anyone can get it with docker pull.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6400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Tutorial  |  TA: Umid Huseynov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00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vs. container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800600" cy="4572000"/>
          </a:xfrm>
          <a:prstGeom prst="roundRect">
            <a:avLst>
              <a:gd name="adj" fmla="val 20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842455" y="1325880"/>
            <a:ext cx="4800600" cy="4572000"/>
          </a:xfrm>
          <a:prstGeom prst="roundRect">
            <a:avLst>
              <a:gd name="adj" fmla="val 2000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04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5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the cookie recipe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116775" y="15087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04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5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the cookie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4251960" cy="402336"/>
          </a:xfrm>
          <a:prstGeom prst="rect">
            <a:avLst/>
          </a:prstGeom>
          <a:solidFill>
            <a:srgbClr val="7FA7D4"/>
          </a:solidFill>
          <a:ln w="12700">
            <a:solidFill>
              <a:srgbClr val="7FA7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960120" y="251460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hello.c + compiled hello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4251960" cy="402336"/>
          </a:xfrm>
          <a:prstGeom prst="rect">
            <a:avLst/>
          </a:prstGeom>
          <a:solidFill>
            <a:srgbClr val="3F74B0"/>
          </a:solidFill>
          <a:ln w="12700">
            <a:solidFill>
              <a:srgbClr val="3F74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0120" y="297180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429000"/>
            <a:ext cx="4251960" cy="402336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960120" y="342900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base image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862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layers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16775" y="2514600"/>
            <a:ext cx="1325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116775" y="25146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1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./hello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79815" y="2514600"/>
            <a:ext cx="1325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579815" y="25146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2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./hello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42855" y="2514600"/>
            <a:ext cx="1325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10042855" y="251460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3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./hello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16775" y="38862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cookies from one recipe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453128"/>
            <a:ext cx="82296" cy="822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1051560" y="4343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template (blueprint)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" y="4818888"/>
            <a:ext cx="82296" cy="822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1051560" y="47091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Dockerfile:  </a:t>
            </a: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" y="5184648"/>
            <a:ext cx="82296" cy="822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1051560" y="50749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images:  </a:t>
            </a: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16775" y="4453128"/>
            <a:ext cx="82296" cy="822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7345375" y="4343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instance of an image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16775" y="4818888"/>
            <a:ext cx="82296" cy="822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7345375" y="47091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Isolated: own processes, files, network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16775" y="5184648"/>
            <a:ext cx="82296" cy="822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7345375" y="50749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one:  </a:t>
            </a: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116775" y="5550408"/>
            <a:ext cx="82296" cy="822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7345375" y="5440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ones:  </a:t>
            </a: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0" y="2743200"/>
            <a:ext cx="1218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577840" y="3200400"/>
            <a:ext cx="1036015" cy="0"/>
          </a:xfrm>
          <a:prstGeom prst="line">
            <a:avLst/>
          </a:prstGeom>
          <a:noFill/>
          <a:ln w="38100">
            <a:solidFill>
              <a:srgbClr val="E0413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54864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943600" y="6400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Tutorial  |  TA: Umid Huseynov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1274552" y="6400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vs. virtual machine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VM copies a whole computer. A container only packs the app — and </a:t>
            </a: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host’s kernel.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42616"/>
            <a:ext cx="124815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2642616"/>
            <a:ext cx="12481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60804" y="2642616"/>
            <a:ext cx="124815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1860804" y="2642616"/>
            <a:ext cx="12481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248156" cy="512064"/>
          </a:xfrm>
          <a:prstGeom prst="rect">
            <a:avLst/>
          </a:prstGeom>
          <a:solidFill>
            <a:srgbClr val="DCE7F3"/>
          </a:solidFill>
          <a:ln w="12700">
            <a:solidFill>
              <a:srgbClr val="DCE7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48640" y="3218688"/>
            <a:ext cx="12481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60804" y="3218688"/>
            <a:ext cx="1248156" cy="512064"/>
          </a:xfrm>
          <a:prstGeom prst="rect">
            <a:avLst/>
          </a:prstGeom>
          <a:solidFill>
            <a:srgbClr val="DCE7F3"/>
          </a:solidFill>
          <a:ln w="12700">
            <a:solidFill>
              <a:srgbClr val="DCE7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860804" y="3218688"/>
            <a:ext cx="12481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248156" cy="512064"/>
          </a:xfrm>
          <a:prstGeom prst="rect">
            <a:avLst/>
          </a:prstGeom>
          <a:solidFill>
            <a:srgbClr val="E04130"/>
          </a:solidFill>
          <a:ln w="12700">
            <a:solidFill>
              <a:srgbClr val="E041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548640" y="3794760"/>
            <a:ext cx="12481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60804" y="3794760"/>
            <a:ext cx="1248156" cy="512064"/>
          </a:xfrm>
          <a:prstGeom prst="rect">
            <a:avLst/>
          </a:prstGeom>
          <a:solidFill>
            <a:srgbClr val="E04130"/>
          </a:solidFill>
          <a:ln w="12700">
            <a:solidFill>
              <a:srgbClr val="E041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1860804" y="3794760"/>
            <a:ext cx="12481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70832"/>
            <a:ext cx="2560320" cy="512064"/>
          </a:xfrm>
          <a:prstGeom prst="rect">
            <a:avLst/>
          </a:prstGeom>
          <a:solidFill>
            <a:srgbClr val="3F74B0"/>
          </a:solidFill>
          <a:ln w="12700">
            <a:solidFill>
              <a:srgbClr val="3F74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548640" y="437083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2560320" cy="512064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548640" y="494690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522976"/>
            <a:ext cx="2560320" cy="5120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548640" y="552297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11880" y="3218688"/>
            <a:ext cx="124815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3611880" y="3218688"/>
            <a:ext cx="12481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24044" y="3218688"/>
            <a:ext cx="124815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4924044" y="3218688"/>
            <a:ext cx="12481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11880" y="3794760"/>
            <a:ext cx="1248156" cy="512064"/>
          </a:xfrm>
          <a:prstGeom prst="rect">
            <a:avLst/>
          </a:prstGeom>
          <a:solidFill>
            <a:srgbClr val="DCE7F3"/>
          </a:solidFill>
          <a:ln w="12700">
            <a:solidFill>
              <a:srgbClr val="DCE7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3611880" y="3794760"/>
            <a:ext cx="12481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24044" y="3794760"/>
            <a:ext cx="1248156" cy="512064"/>
          </a:xfrm>
          <a:prstGeom prst="rect">
            <a:avLst/>
          </a:prstGeom>
          <a:solidFill>
            <a:srgbClr val="DCE7F3"/>
          </a:solidFill>
          <a:ln w="12700">
            <a:solidFill>
              <a:srgbClr val="DCE7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4924044" y="3794760"/>
            <a:ext cx="12481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11880" y="4370832"/>
            <a:ext cx="2560320" cy="512064"/>
          </a:xfrm>
          <a:prstGeom prst="rect">
            <a:avLst/>
          </a:prstGeom>
          <a:solidFill>
            <a:srgbClr val="3F74B0"/>
          </a:solidFill>
          <a:ln w="12700">
            <a:solidFill>
              <a:srgbClr val="3F74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3611880" y="437083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11880" y="4946904"/>
            <a:ext cx="2560320" cy="512064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3611880" y="494690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(shared kernel)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11880" y="5522976"/>
            <a:ext cx="2560320" cy="5120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3611880" y="552297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34440"/>
          <a:ext cx="5239512" cy="3401568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whole guest OS + the app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app + its libraries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own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with the host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Start-up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slow: boots an OS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fast: starts a process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 smaller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002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lighter: namespaces + cgroups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Text 36"/>
          <p:cNvSpPr txBox="1"/>
          <p:nvPr/>
        </p:nvSpPr>
        <p:spPr>
          <a:xfrm>
            <a:off x="6400800" y="4937760"/>
            <a:ext cx="5242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know: </a:t>
            </a: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Windows and macOS, Docker Desktop runs your containers inside one small Linux VM.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 txBox="1"/>
          <p:nvPr/>
        </p:nvSpPr>
        <p:spPr>
          <a:xfrm>
            <a:off x="54864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943600" y="6400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Tutorial  |  TA: Umid Huseynov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1274552" y="6400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practice files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2E3641"/>
          </a:solidFill>
          <a:ln w="12700">
            <a:solidFill>
              <a:srgbClr val="2E36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850392" cy="256032"/>
          </a:xfrm>
          <a:prstGeom prst="rect">
            <a:avLst/>
          </a:prstGeom>
          <a:solidFill>
            <a:srgbClr val="3B4452"/>
          </a:solidFill>
          <a:ln w="12700">
            <a:solidFill>
              <a:srgbClr val="3B44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10728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7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https://github.com/uhuseynov/sdo-docker-lab.git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7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sdo-docker-lab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inside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sdo-docker-lab/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task1-hello/      </a:t>
            </a:r>
            <a:r>
              <a:rPr lang="en-US" sz="14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hello.c  Dockerfile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task2-converter/  </a:t>
            </a:r>
            <a:r>
              <a:rPr lang="en-US" sz="14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converter.c  Dockerfile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task3-webserver/  </a:t>
            </a:r>
            <a:r>
              <a:rPr lang="en-US" sz="14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server.c  Dockerfile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788920"/>
            <a:ext cx="5379415" cy="2103120"/>
          </a:xfrm>
          <a:prstGeom prst="roundRect">
            <a:avLst>
              <a:gd name="adj" fmla="val 4348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537960" y="2926080"/>
            <a:ext cx="4830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today works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37960" y="3538728"/>
            <a:ext cx="82296" cy="822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766560" y="3429000"/>
            <a:ext cx="4602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write C from scratch: change 1–2 lines.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37960" y="3877056"/>
            <a:ext cx="82296" cy="822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6766560" y="3767328"/>
            <a:ext cx="4602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tasks, each a bit bigger than the last.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7960" y="4215384"/>
            <a:ext cx="82296" cy="822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766560" y="4105656"/>
            <a:ext cx="4602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task: </a:t>
            </a: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37960" y="4553712"/>
            <a:ext cx="82296" cy="822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766560" y="4443984"/>
            <a:ext cx="4602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for more than 5 minutes? Ask a TA.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for every task: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548640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code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2542032" y="5806440"/>
            <a:ext cx="275234" cy="0"/>
          </a:xfrm>
          <a:prstGeom prst="line">
            <a:avLst/>
          </a:prstGeom>
          <a:noFill/>
          <a:ln w="25400">
            <a:solidFill>
              <a:srgbClr val="00204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2890418" y="5532120"/>
            <a:ext cx="27889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2890418" y="55321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NAME 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752490" y="5806440"/>
            <a:ext cx="275234" cy="0"/>
          </a:xfrm>
          <a:prstGeom prst="line">
            <a:avLst/>
          </a:prstGeom>
          <a:noFill/>
          <a:ln w="25400">
            <a:solidFill>
              <a:srgbClr val="00204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100877" y="5532120"/>
            <a:ext cx="21488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100877" y="5532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NAME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8322869" y="5806440"/>
            <a:ext cx="275234" cy="0"/>
          </a:xfrm>
          <a:prstGeom prst="line">
            <a:avLst/>
          </a:prstGeom>
          <a:noFill/>
          <a:ln w="25400">
            <a:solidFill>
              <a:srgbClr val="00204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671255" y="5532120"/>
            <a:ext cx="29718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8671255" y="5532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 + git commit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54864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0" y="6400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Tutorial  |  TA: Umid Huseynov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00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· Hello from a container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317175" y="475488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41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17175" y="4754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4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07592"/>
            <a:ext cx="5212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task folder: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task1-hello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66544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039112"/>
            <a:ext cx="5212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15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fill in the 5 blanks </a:t>
            </a:r>
            <a:r>
              <a:rPr lang="en-US" sz="1500" b="1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Use the lecture slide “Create Dockerfile”.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779776"/>
            <a:ext cx="5212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image: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hello 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538728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11296"/>
            <a:ext cx="5212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hello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270248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242816"/>
            <a:ext cx="5212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15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hello.c</a:t>
            </a: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change </a:t>
            </a: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</a:t>
            </a: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your name. Build and run again. Which steps say </a:t>
            </a: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CACHED</a:t>
            </a: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010912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010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98348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work: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"Task 1 done"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6520" y="1325880"/>
            <a:ext cx="5196535" cy="3291840"/>
          </a:xfrm>
          <a:prstGeom prst="roundRect">
            <a:avLst>
              <a:gd name="adj" fmla="val 2222"/>
            </a:avLst>
          </a:prstGeom>
          <a:solidFill>
            <a:srgbClr val="2E3641"/>
          </a:solidFill>
          <a:ln w="12700">
            <a:solidFill>
              <a:srgbClr val="2E364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56248" y="1417320"/>
            <a:ext cx="1005840" cy="256032"/>
          </a:xfrm>
          <a:prstGeom prst="rect">
            <a:avLst/>
          </a:prstGeom>
          <a:solidFill>
            <a:srgbClr val="3B4452"/>
          </a:solidFill>
          <a:ln w="12700">
            <a:solidFill>
              <a:srgbClr val="3B44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1417320"/>
            <a:ext cx="4830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1737360"/>
            <a:ext cx="4830775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 1: fill in the 5 blanks (____)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Hint: lecture slide "Create Dockerfile"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Base image: the gcc compiler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50" b="1" dirty="0">
                <a:solidFill>
                  <a:srgbClr val="FF7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Working directory: /app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</a:t>
            </a:r>
            <a:r>
              <a:rPr lang="en-US" sz="1250" b="1" dirty="0">
                <a:solidFill>
                  <a:srgbClr val="FF7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Copy hello.c into the container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</a:t>
            </a:r>
            <a:r>
              <a:rPr lang="en-US" sz="1250" b="1" dirty="0">
                <a:solidFill>
                  <a:srgbClr val="FF7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r>
              <a:rPr lang="en-US" sz="12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Compile hello.c into a program "hello"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</a:t>
            </a:r>
            <a:r>
              <a:rPr lang="en-US" sz="12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-o </a:t>
            </a:r>
            <a:r>
              <a:rPr lang="en-US" sz="1250" b="1" dirty="0">
                <a:solidFill>
                  <a:srgbClr val="FF7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r>
              <a:rPr lang="en-US" sz="12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hello.c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Start the program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</a:t>
            </a:r>
            <a:r>
              <a:rPr lang="en-US" sz="12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</a:t>
            </a:r>
            <a:r>
              <a:rPr lang="en-US" sz="1250" b="1" dirty="0">
                <a:solidFill>
                  <a:srgbClr val="FF7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r>
              <a:rPr lang="en-US" sz="125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46520" y="5166360"/>
            <a:ext cx="5196535" cy="987552"/>
          </a:xfrm>
          <a:prstGeom prst="roundRect">
            <a:avLst>
              <a:gd name="adj" fmla="val 7407"/>
            </a:avLst>
          </a:prstGeom>
          <a:solidFill>
            <a:srgbClr val="2E3641"/>
          </a:solidFill>
          <a:ln w="12700">
            <a:solidFill>
              <a:srgbClr val="2E36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29400" y="5276088"/>
            <a:ext cx="48307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hello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8D0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World! This runs inside a container.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8D0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Compiled with gcc 16.2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54864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6400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Tutorial  |  TA: Umid Huseynov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00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4" name="Rounded Rectangle 33"/>
          <p:cNvSpPr/>
          <p:nvPr/>
        </p:nvSpPr>
        <p:spPr>
          <a:xfrm>
            <a:off x="7711135" y="475488"/>
            <a:ext cx="2423160" cy="42062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11135" y="475488"/>
            <a:ext cx="24231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E04130"/>
                </a:solidFill>
                <a:latin typeface="Calibri"/>
              </a:rPr>
              <a:t>Try it yourself first!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· Hello from a container</a:t>
            </a:r>
            <a:endParaRPr lang="en-US" sz="34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54864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0" y="6400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Tutorial  |  TA: Umid Huseynov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00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Rounded Rectangle 33"/>
          <p:cNvSpPr/>
          <p:nvPr/>
        </p:nvSpPr>
        <p:spPr>
          <a:xfrm>
            <a:off x="10317175" y="475488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0020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17175" y="475488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1325880"/>
            <a:ext cx="5440680" cy="2834640"/>
          </a:xfrm>
          <a:prstGeom prst="roundRect">
            <a:avLst>
              <a:gd name="adj" fmla="val 2580"/>
            </a:avLst>
          </a:prstGeom>
          <a:solidFill>
            <a:srgbClr val="2E36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8368" y="1417320"/>
            <a:ext cx="1005840" cy="256032"/>
          </a:xfrm>
          <a:prstGeom prst="rect">
            <a:avLst/>
          </a:prstGeom>
          <a:solidFill>
            <a:srgbClr val="3B445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1417320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C9D1DC"/>
                </a:solidFill>
                <a:latin typeface="Calibri"/>
              </a:rPr>
              <a:t>Dockerfile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1737360"/>
            <a:ext cx="5074920" cy="2313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C96A8"/>
                </a:solidFill>
                <a:latin typeface="Consolas"/>
              </a:rPr>
              <a:t># 1. Base image: the gcc compiler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7FB4F0"/>
                </a:solidFill>
                <a:latin typeface="Consolas"/>
              </a:rPr>
              <a:t>FROM </a:t>
            </a:r>
            <a:r>
              <a:rPr sz="1300" b="1" i="0">
                <a:solidFill>
                  <a:srgbClr val="A8D08D"/>
                </a:solidFill>
                <a:latin typeface="Consolas"/>
              </a:rPr>
              <a:t>gcc:latest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C96A8"/>
                </a:solidFill>
                <a:latin typeface="Consolas"/>
              </a:rPr>
              <a:t># 2. Working directory: /app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7FB4F0"/>
                </a:solidFill>
                <a:latin typeface="Consolas"/>
              </a:rPr>
              <a:t>WORKDIR </a:t>
            </a:r>
            <a:r>
              <a:rPr sz="1300" b="1" i="0">
                <a:solidFill>
                  <a:srgbClr val="A8D08D"/>
                </a:solidFill>
                <a:latin typeface="Consolas"/>
              </a:rPr>
              <a:t>/app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C96A8"/>
                </a:solidFill>
                <a:latin typeface="Consolas"/>
              </a:rPr>
              <a:t># 3. Copy hello.c into the container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7FB4F0"/>
                </a:solidFill>
                <a:latin typeface="Consolas"/>
              </a:rPr>
              <a:t>COPY </a:t>
            </a:r>
            <a:r>
              <a:rPr sz="1300" b="1" i="0">
                <a:solidFill>
                  <a:srgbClr val="A8D08D"/>
                </a:solidFill>
                <a:latin typeface="Consolas"/>
              </a:rPr>
              <a:t>hello.c</a:t>
            </a:r>
            <a:r>
              <a:rPr sz="1300" b="0" i="0">
                <a:solidFill>
                  <a:srgbClr val="E6EAF0"/>
                </a:solidFill>
                <a:latin typeface="Consolas"/>
              </a:rPr>
              <a:t> .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C96A8"/>
                </a:solidFill>
                <a:latin typeface="Consolas"/>
              </a:rPr>
              <a:t># 4. Compile hello.c into a program "hello"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7FB4F0"/>
                </a:solidFill>
                <a:latin typeface="Consolas"/>
              </a:rPr>
              <a:t>RUN </a:t>
            </a:r>
            <a:r>
              <a:rPr sz="1300" b="0" i="0">
                <a:solidFill>
                  <a:srgbClr val="E6EAF0"/>
                </a:solidFill>
                <a:latin typeface="Consolas"/>
              </a:rPr>
              <a:t>gcc -o </a:t>
            </a:r>
            <a:r>
              <a:rPr sz="1300" b="1" i="0">
                <a:solidFill>
                  <a:srgbClr val="A8D08D"/>
                </a:solidFill>
                <a:latin typeface="Consolas"/>
              </a:rPr>
              <a:t>hello</a:t>
            </a:r>
            <a:r>
              <a:rPr sz="1300" b="0" i="0">
                <a:solidFill>
                  <a:srgbClr val="E6EAF0"/>
                </a:solidFill>
                <a:latin typeface="Consolas"/>
              </a:rPr>
              <a:t> hello.c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C96A8"/>
                </a:solidFill>
                <a:latin typeface="Consolas"/>
              </a:rPr>
              <a:t># 5. Start the program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7FB4F0"/>
                </a:solidFill>
                <a:latin typeface="Consolas"/>
              </a:rPr>
              <a:t>CMD </a:t>
            </a:r>
            <a:r>
              <a:rPr sz="1300" b="0" i="0">
                <a:solidFill>
                  <a:srgbClr val="E6EAF0"/>
                </a:solidFill>
                <a:latin typeface="Consolas"/>
              </a:rPr>
              <a:t>["</a:t>
            </a:r>
            <a:r>
              <a:rPr sz="1300" b="1" i="0">
                <a:solidFill>
                  <a:srgbClr val="A8D08D"/>
                </a:solidFill>
                <a:latin typeface="Consolas"/>
              </a:rPr>
              <a:t>./hello</a:t>
            </a:r>
            <a:r>
              <a:rPr sz="1300" b="0" i="0">
                <a:solidFill>
                  <a:srgbClr val="E6EAF0"/>
                </a:solidFill>
                <a:latin typeface="Consolas"/>
              </a:rPr>
              <a:t>"]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24528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1">
                <a:solidFill>
                  <a:srgbClr val="5B6472"/>
                </a:solidFill>
                <a:latin typeface="Calibri"/>
              </a:rPr>
              <a:t>green = the 5 blanks you had to fill 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617720"/>
            <a:ext cx="544068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59" y="480060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00204D"/>
                </a:solidFill>
                <a:latin typeface="Arial"/>
              </a:rPr>
              <a:t>Step 5: what does CACHED mean?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" y="5212080"/>
            <a:ext cx="4892040" cy="8229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A0A0A"/>
                </a:solidFill>
                <a:latin typeface="Calibri"/>
              </a:rPr>
              <a:t>Docker reuses every layer that did not change. </a:t>
            </a:r>
            <a:r>
              <a:rPr sz="1400" b="0" i="0">
                <a:solidFill>
                  <a:srgbClr val="0A0A0A"/>
                </a:solidFill>
                <a:latin typeface="Consolas"/>
              </a:rPr>
              <a:t>hello.c</a:t>
            </a:r>
            <a:r>
              <a:rPr sz="1500" b="0" i="0">
                <a:solidFill>
                  <a:srgbClr val="0A0A0A"/>
                </a:solidFill>
                <a:latin typeface="Calibri"/>
              </a:rPr>
              <a:t> changed, so COPY and every step after it run again. WORKDIR did not change, so it says CACHED.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46520" y="1325880"/>
            <a:ext cx="5196535" cy="4846320"/>
          </a:xfrm>
          <a:prstGeom prst="roundRect">
            <a:avLst>
              <a:gd name="adj" fmla="val 1509"/>
            </a:avLst>
          </a:prstGeom>
          <a:solidFill>
            <a:srgbClr val="2E36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56248" y="1417320"/>
            <a:ext cx="850392" cy="256032"/>
          </a:xfrm>
          <a:prstGeom prst="rect">
            <a:avLst/>
          </a:prstGeom>
          <a:solidFill>
            <a:srgbClr val="3B445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29400" y="1417320"/>
            <a:ext cx="4830775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C9D1DC"/>
                </a:solidFill>
                <a:latin typeface="Calibri"/>
              </a:rPr>
              <a:t>Terminal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1737360"/>
            <a:ext cx="4830775" cy="4325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 dirty="0">
                <a:solidFill>
                  <a:srgbClr val="8C96A8"/>
                </a:solidFill>
                <a:latin typeface="Consolas"/>
              </a:rPr>
              <a:t>$ </a:t>
            </a:r>
            <a:r>
              <a:rPr sz="1300" b="0" i="0" dirty="0">
                <a:solidFill>
                  <a:srgbClr val="E6EAF0"/>
                </a:solidFill>
                <a:latin typeface="Consolas"/>
              </a:rPr>
              <a:t>cd task1-hello</a:t>
            </a:r>
          </a:p>
          <a:p>
            <a:pPr algn="l">
              <a:lnSpc>
                <a:spcPct val="112000"/>
              </a:lnSpc>
            </a:pPr>
            <a:r>
              <a:rPr sz="1300" b="0" i="0" dirty="0">
                <a:solidFill>
                  <a:srgbClr val="8C96A8"/>
                </a:solidFill>
                <a:latin typeface="Consolas"/>
              </a:rPr>
              <a:t>$ </a:t>
            </a:r>
            <a:r>
              <a:rPr sz="1300" b="0" i="0" dirty="0">
                <a:solidFill>
                  <a:srgbClr val="E6EAF0"/>
                </a:solidFill>
                <a:latin typeface="Consolas"/>
              </a:rPr>
              <a:t>docker build -t hello .</a:t>
            </a:r>
          </a:p>
          <a:p>
            <a:pPr algn="l">
              <a:lnSpc>
                <a:spcPct val="112000"/>
              </a:lnSpc>
            </a:pPr>
            <a:r>
              <a:rPr sz="1300" b="0" i="0" dirty="0">
                <a:solidFill>
                  <a:srgbClr val="8C96A8"/>
                </a:solidFill>
                <a:latin typeface="Consolas"/>
              </a:rPr>
              <a:t>$ </a:t>
            </a:r>
            <a:r>
              <a:rPr sz="1300" b="0" i="0" dirty="0">
                <a:solidFill>
                  <a:srgbClr val="E6EAF0"/>
                </a:solidFill>
                <a:latin typeface="Consolas"/>
              </a:rPr>
              <a:t>docker run hello</a:t>
            </a:r>
          </a:p>
          <a:p>
            <a:pPr algn="l">
              <a:lnSpc>
                <a:spcPct val="112000"/>
              </a:lnSpc>
            </a:pPr>
            <a:r>
              <a:rPr sz="1300" b="0" i="0" dirty="0">
                <a:solidFill>
                  <a:srgbClr val="A8D08D"/>
                </a:solidFill>
                <a:latin typeface="Consolas"/>
              </a:rPr>
              <a:t>Hello, World! This runs inside a container.</a:t>
            </a:r>
          </a:p>
          <a:p>
            <a:pPr algn="l">
              <a:lnSpc>
                <a:spcPct val="112000"/>
              </a:lnSpc>
            </a:pPr>
            <a:r>
              <a:rPr sz="1300" b="0" i="0" dirty="0">
                <a:solidFill>
                  <a:srgbClr val="A8D08D"/>
                </a:solidFill>
                <a:latin typeface="Consolas"/>
              </a:rPr>
              <a:t>Compiled with </a:t>
            </a:r>
            <a:r>
              <a:rPr sz="1300" b="0" i="0" dirty="0" err="1">
                <a:solidFill>
                  <a:srgbClr val="A8D08D"/>
                </a:solidFill>
                <a:latin typeface="Consolas"/>
              </a:rPr>
              <a:t>gcc</a:t>
            </a:r>
            <a:r>
              <a:rPr sz="1300" b="0" i="0" dirty="0">
                <a:solidFill>
                  <a:srgbClr val="A8D08D"/>
                </a:solidFill>
                <a:latin typeface="Consolas"/>
              </a:rPr>
              <a:t> 16.2</a:t>
            </a:r>
          </a:p>
          <a:p>
            <a:pPr algn="l">
              <a:lnSpc>
                <a:spcPct val="112000"/>
              </a:lnSpc>
            </a:pPr>
            <a:r>
              <a:rPr sz="1600" b="0" i="0" dirty="0">
                <a:solidFill>
                  <a:srgbClr val="0A0A0A"/>
                </a:solidFill>
                <a:latin typeface="Calibri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300" b="0" i="0" dirty="0">
                <a:solidFill>
                  <a:srgbClr val="8C96A8"/>
                </a:solidFill>
                <a:latin typeface="Consolas"/>
              </a:rPr>
              <a:t># after changing World to </a:t>
            </a:r>
            <a:r>
              <a:rPr lang="en-US" sz="1300" dirty="0">
                <a:solidFill>
                  <a:srgbClr val="8C96A8"/>
                </a:solidFill>
                <a:latin typeface="Consolas"/>
              </a:rPr>
              <a:t>your name</a:t>
            </a:r>
            <a:r>
              <a:rPr sz="1300" b="0" i="0" dirty="0">
                <a:solidFill>
                  <a:srgbClr val="8C96A8"/>
                </a:solidFill>
                <a:latin typeface="Consolas"/>
              </a:rPr>
              <a:t>:</a:t>
            </a:r>
          </a:p>
          <a:p>
            <a:pPr algn="l">
              <a:lnSpc>
                <a:spcPct val="112000"/>
              </a:lnSpc>
            </a:pPr>
            <a:r>
              <a:rPr sz="1300" b="0" i="0" dirty="0">
                <a:solidFill>
                  <a:srgbClr val="8C96A8"/>
                </a:solidFill>
                <a:latin typeface="Consolas"/>
              </a:rPr>
              <a:t>$ </a:t>
            </a:r>
            <a:r>
              <a:rPr sz="1300" b="0" i="0" dirty="0">
                <a:solidFill>
                  <a:srgbClr val="E6EAF0"/>
                </a:solidFill>
                <a:latin typeface="Consolas"/>
              </a:rPr>
              <a:t>docker build -t hello .</a:t>
            </a:r>
          </a:p>
          <a:p>
            <a:pPr algn="l">
              <a:lnSpc>
                <a:spcPct val="112000"/>
              </a:lnSpc>
            </a:pPr>
            <a:r>
              <a:rPr sz="1300" b="1" i="0" dirty="0">
                <a:solidFill>
                  <a:srgbClr val="E5C07B"/>
                </a:solidFill>
                <a:latin typeface="Consolas"/>
              </a:rPr>
              <a:t> =&gt; CACHED [2/4] WORKDIR /app</a:t>
            </a:r>
          </a:p>
          <a:p>
            <a:pPr algn="l">
              <a:lnSpc>
                <a:spcPct val="112000"/>
              </a:lnSpc>
            </a:pPr>
            <a:r>
              <a:rPr sz="1300" b="0" i="0" dirty="0">
                <a:solidFill>
                  <a:srgbClr val="8C96A8"/>
                </a:solidFill>
                <a:latin typeface="Consolas"/>
              </a:rPr>
              <a:t>$ </a:t>
            </a:r>
            <a:r>
              <a:rPr sz="1300" b="0" i="0" dirty="0">
                <a:solidFill>
                  <a:srgbClr val="E6EAF0"/>
                </a:solidFill>
                <a:latin typeface="Consolas"/>
              </a:rPr>
              <a:t>docker run hello</a:t>
            </a:r>
          </a:p>
          <a:p>
            <a:pPr algn="l">
              <a:lnSpc>
                <a:spcPct val="112000"/>
              </a:lnSpc>
            </a:pPr>
            <a:r>
              <a:rPr sz="1300" b="0" i="0" dirty="0">
                <a:solidFill>
                  <a:srgbClr val="A8D08D"/>
                </a:solidFill>
                <a:latin typeface="Consolas"/>
              </a:rPr>
              <a:t>Hello, </a:t>
            </a:r>
            <a:r>
              <a:rPr lang="en-US" sz="1300" dirty="0">
                <a:solidFill>
                  <a:srgbClr val="A8D08D"/>
                </a:solidFill>
                <a:latin typeface="Consolas"/>
              </a:rPr>
              <a:t>***</a:t>
            </a:r>
            <a:r>
              <a:rPr sz="1300" b="0" i="0" dirty="0">
                <a:solidFill>
                  <a:srgbClr val="A8D08D"/>
                </a:solidFill>
                <a:latin typeface="Consolas"/>
              </a:rPr>
              <a:t>! This runs inside a container.</a:t>
            </a:r>
          </a:p>
          <a:p>
            <a:pPr algn="l">
              <a:lnSpc>
                <a:spcPct val="112000"/>
              </a:lnSpc>
            </a:pPr>
            <a:r>
              <a:rPr sz="1300" b="0" i="0" dirty="0">
                <a:solidFill>
                  <a:srgbClr val="A8D08D"/>
                </a:solidFill>
                <a:latin typeface="Consolas"/>
              </a:rPr>
              <a:t>Compiled with </a:t>
            </a:r>
            <a:r>
              <a:rPr sz="1300" b="0" i="0" dirty="0" err="1">
                <a:solidFill>
                  <a:srgbClr val="A8D08D"/>
                </a:solidFill>
                <a:latin typeface="Consolas"/>
              </a:rPr>
              <a:t>gcc</a:t>
            </a:r>
            <a:r>
              <a:rPr sz="1300" b="0" i="0" dirty="0">
                <a:solidFill>
                  <a:srgbClr val="A8D08D"/>
                </a:solidFill>
                <a:latin typeface="Consolas"/>
              </a:rPr>
              <a:t> 16.2</a:t>
            </a:r>
          </a:p>
          <a:p>
            <a:pPr algn="l">
              <a:lnSpc>
                <a:spcPct val="112000"/>
              </a:lnSpc>
            </a:pPr>
            <a:r>
              <a:rPr sz="1600" b="0" i="0" dirty="0">
                <a:solidFill>
                  <a:srgbClr val="0A0A0A"/>
                </a:solidFill>
                <a:latin typeface="Calibri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300" b="0" i="0" dirty="0">
                <a:solidFill>
                  <a:srgbClr val="8C96A8"/>
                </a:solidFill>
                <a:latin typeface="Consolas"/>
              </a:rPr>
              <a:t>$ </a:t>
            </a:r>
            <a:r>
              <a:rPr sz="1300" b="0" i="0" dirty="0">
                <a:solidFill>
                  <a:srgbClr val="E6EAF0"/>
                </a:solidFill>
                <a:latin typeface="Consolas"/>
              </a:rPr>
              <a:t>git add .</a:t>
            </a:r>
          </a:p>
          <a:p>
            <a:pPr algn="l">
              <a:lnSpc>
                <a:spcPct val="112000"/>
              </a:lnSpc>
            </a:pPr>
            <a:r>
              <a:rPr sz="1300" b="0" i="0" dirty="0">
                <a:solidFill>
                  <a:srgbClr val="8C96A8"/>
                </a:solidFill>
                <a:latin typeface="Consolas"/>
              </a:rPr>
              <a:t>$ </a:t>
            </a:r>
            <a:r>
              <a:rPr sz="1300" b="0" i="0" dirty="0">
                <a:solidFill>
                  <a:srgbClr val="E6EAF0"/>
                </a:solidFill>
                <a:latin typeface="Consolas"/>
              </a:rPr>
              <a:t>git commit -m "Task 1 done"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· Talk to your container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317175" y="475488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41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17175" y="4754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4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07592"/>
            <a:ext cx="5212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next task: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../task2-converter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66544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039112"/>
            <a:ext cx="5212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image: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converter 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798064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770632"/>
            <a:ext cx="5212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it. What happens, and why?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converter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02152"/>
            <a:ext cx="5212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 </a:t>
            </a: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-it</a:t>
            </a: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type 100: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-it converter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261104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233672"/>
            <a:ext cx="5212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°C should be 212 °F, but the program says 132. Fix the bug in </a:t>
            </a:r>
            <a:r>
              <a:rPr lang="en-US" sz="15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converter.c</a:t>
            </a: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build and run again.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001768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001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97433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work: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"Task 2 done"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6520" y="1325880"/>
            <a:ext cx="5196535" cy="960120"/>
          </a:xfrm>
          <a:prstGeom prst="roundRect">
            <a:avLst>
              <a:gd name="adj" fmla="val 9524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0840" y="1325880"/>
            <a:ext cx="4739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lets you type into the container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</a:t>
            </a: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gives you a proper terminal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6520" y="2487168"/>
            <a:ext cx="5196535" cy="2514600"/>
          </a:xfrm>
          <a:prstGeom prst="roundRect">
            <a:avLst>
              <a:gd name="adj" fmla="val 2909"/>
            </a:avLst>
          </a:prstGeom>
          <a:solidFill>
            <a:srgbClr val="2E3641"/>
          </a:solidFill>
          <a:ln w="12700">
            <a:solidFill>
              <a:srgbClr val="2E36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56248" y="2578608"/>
            <a:ext cx="850392" cy="256032"/>
          </a:xfrm>
          <a:prstGeom prst="rect">
            <a:avLst/>
          </a:prstGeom>
          <a:solidFill>
            <a:srgbClr val="3B4452"/>
          </a:solidFill>
          <a:ln w="12700">
            <a:solidFill>
              <a:srgbClr val="3B44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2578608"/>
            <a:ext cx="4830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2898648"/>
            <a:ext cx="4830775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converter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8D0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Celsius to Fahrenheit converter ===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8D0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a temperature in Celsius: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8D0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input received! Did you forget the -it flags?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C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-it converter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8D0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Celsius to Fahrenheit converter ===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8D0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a temperature in Celsius: </a:t>
            </a: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8D0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 C = 132.0 F</a:t>
            </a:r>
            <a:r>
              <a:rPr lang="en-US" sz="1200" b="1" dirty="0">
                <a:solidFill>
                  <a:srgbClr val="FF7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should be 212.0 F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46520" y="5166360"/>
            <a:ext cx="5196535" cy="502920"/>
          </a:xfrm>
          <a:prstGeom prst="roundRect">
            <a:avLst>
              <a:gd name="adj" fmla="val 18182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20840" y="5166360"/>
            <a:ext cx="47393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4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</a:t>
            </a: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</a:t>
            </a:r>
            <a:r>
              <a:rPr lang="en-US" sz="16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5</a:t>
            </a: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C?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5760720"/>
            <a:ext cx="5196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+ Git Bash: if -it gives an error, use PowerShell instead.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54864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0" y="6400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Tutorial  |  TA: Umid Huseynov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00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6" name="Rounded Rectangle 35"/>
          <p:cNvSpPr/>
          <p:nvPr/>
        </p:nvSpPr>
        <p:spPr>
          <a:xfrm>
            <a:off x="7711135" y="475488"/>
            <a:ext cx="2423160" cy="42062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11135" y="475488"/>
            <a:ext cx="24231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E04130"/>
                </a:solidFill>
                <a:latin typeface="Calibri"/>
              </a:rPr>
              <a:t>Try it yourself first!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· Talk to your container</a:t>
            </a:r>
            <a:endParaRPr lang="en-US" sz="3400" dirty="0"/>
          </a:p>
        </p:txBody>
      </p:sp>
      <p:sp>
        <p:nvSpPr>
          <p:cNvPr id="32" name="Shape 3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54864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0" y="6400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Tutorial  |  TA: Umid Huseynov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00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6" name="Rounded Rectangle 35"/>
          <p:cNvSpPr/>
          <p:nvPr/>
        </p:nvSpPr>
        <p:spPr>
          <a:xfrm>
            <a:off x="10317175" y="475488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0020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17175" y="475488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13258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2E36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" y="1417320"/>
            <a:ext cx="2016252" cy="256032"/>
          </a:xfrm>
          <a:prstGeom prst="rect">
            <a:avLst/>
          </a:prstGeom>
          <a:solidFill>
            <a:srgbClr val="3B445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1417320"/>
            <a:ext cx="50749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C9D1DC"/>
                </a:solidFill>
                <a:latin typeface="Calibri"/>
              </a:rPr>
              <a:t>converter.c  ·  line 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1737360"/>
            <a:ext cx="5074920" cy="1078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C96A8"/>
                </a:solidFill>
                <a:latin typeface="Consolas"/>
              </a:rPr>
              <a:t>/* before (bug) */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FF7B6B"/>
                </a:solidFill>
                <a:latin typeface="Consolas"/>
              </a:rPr>
              <a:t>float fahrenheit = celsius * (9 / 5) + 32;</a:t>
            </a:r>
          </a:p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C96A8"/>
                </a:solidFill>
                <a:latin typeface="Consolas"/>
              </a:rPr>
              <a:t>/* after (fixed) */</a:t>
            </a:r>
          </a:p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A8D08D"/>
                </a:solidFill>
                <a:latin typeface="Consolas"/>
              </a:rPr>
              <a:t>float fahrenheit = celsius * 9.0 / 5.0 + 32;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3154680"/>
            <a:ext cx="5440680" cy="1417320"/>
          </a:xfrm>
          <a:prstGeom prst="roundRect">
            <a:avLst>
              <a:gd name="adj" fmla="val 6451"/>
            </a:avLst>
          </a:prstGeom>
          <a:solidFill>
            <a:srgbClr val="F2F5F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59" y="333756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00204D"/>
                </a:solidFill>
                <a:latin typeface="Arial"/>
              </a:rPr>
              <a:t>Why 132 instead of 212?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" y="3749040"/>
            <a:ext cx="48920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A0A0A"/>
                </a:solidFill>
                <a:latin typeface="Calibri"/>
              </a:rPr>
              <a:t>In C, </a:t>
            </a:r>
            <a:r>
              <a:rPr sz="1400" b="1" i="0">
                <a:solidFill>
                  <a:srgbClr val="0A0A0A"/>
                </a:solidFill>
                <a:latin typeface="Consolas"/>
              </a:rPr>
              <a:t>9 / 5</a:t>
            </a:r>
            <a:r>
              <a:rPr sz="1500" b="0" i="0">
                <a:solidFill>
                  <a:srgbClr val="0A0A0A"/>
                </a:solidFill>
                <a:latin typeface="Calibri"/>
              </a:rPr>
              <a:t> divides two whole numbers, so the result is 1 (the .8 is cut off): 100 × 1 + 32 = 132. With </a:t>
            </a:r>
            <a:r>
              <a:rPr sz="1400" b="1" i="0">
                <a:solidFill>
                  <a:srgbClr val="0A0A0A"/>
                </a:solidFill>
                <a:latin typeface="Consolas"/>
              </a:rPr>
              <a:t>9.0 / 5.0</a:t>
            </a:r>
            <a:r>
              <a:rPr sz="1500" b="0" i="0">
                <a:solidFill>
                  <a:srgbClr val="0A0A0A"/>
                </a:solidFill>
                <a:latin typeface="Calibri"/>
              </a:rPr>
              <a:t> you get 1.8: 100 × 1.8 + 32 = 212.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754880"/>
            <a:ext cx="5440680" cy="1417320"/>
          </a:xfrm>
          <a:prstGeom prst="roundRect">
            <a:avLst>
              <a:gd name="adj" fmla="val 6451"/>
            </a:avLst>
          </a:prstGeom>
          <a:solidFill>
            <a:srgbClr val="F2F5F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59" y="493776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00204D"/>
                </a:solidFill>
                <a:latin typeface="Arial"/>
              </a:rPr>
              <a:t>Why did it fail without -it?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59" y="5349240"/>
            <a:ext cx="48920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A0A0A"/>
                </a:solidFill>
                <a:latin typeface="Calibri"/>
              </a:rPr>
              <a:t>The container had no keyboard attached, so </a:t>
            </a:r>
            <a:r>
              <a:rPr sz="1400" b="0" i="0">
                <a:solidFill>
                  <a:srgbClr val="0A0A0A"/>
                </a:solidFill>
                <a:latin typeface="Consolas"/>
              </a:rPr>
              <a:t>scanf()</a:t>
            </a:r>
            <a:r>
              <a:rPr sz="1500" b="0" i="0">
                <a:solidFill>
                  <a:srgbClr val="0A0A0A"/>
                </a:solidFill>
                <a:latin typeface="Calibri"/>
              </a:rPr>
              <a:t> read nothing. </a:t>
            </a:r>
            <a:r>
              <a:rPr sz="1400" b="1" i="0">
                <a:solidFill>
                  <a:srgbClr val="E04130"/>
                </a:solidFill>
                <a:latin typeface="Consolas"/>
              </a:rPr>
              <a:t>-i</a:t>
            </a:r>
            <a:r>
              <a:rPr sz="1500" b="0" i="0">
                <a:solidFill>
                  <a:srgbClr val="0A0A0A"/>
                </a:solidFill>
                <a:latin typeface="Calibri"/>
              </a:rPr>
              <a:t> connects your keyboard, </a:t>
            </a:r>
            <a:r>
              <a:rPr sz="1400" b="1" i="0">
                <a:solidFill>
                  <a:srgbClr val="E04130"/>
                </a:solidFill>
                <a:latin typeface="Consolas"/>
              </a:rPr>
              <a:t>-t</a:t>
            </a:r>
            <a:r>
              <a:rPr sz="1500" b="0" i="0">
                <a:solidFill>
                  <a:srgbClr val="0A0A0A"/>
                </a:solidFill>
                <a:latin typeface="Calibri"/>
              </a:rPr>
              <a:t> gives you a terminal.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46520" y="1325880"/>
            <a:ext cx="5196535" cy="3017520"/>
          </a:xfrm>
          <a:prstGeom prst="roundRect">
            <a:avLst>
              <a:gd name="adj" fmla="val 2424"/>
            </a:avLst>
          </a:prstGeom>
          <a:solidFill>
            <a:srgbClr val="2E36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556248" y="1417320"/>
            <a:ext cx="850392" cy="256032"/>
          </a:xfrm>
          <a:prstGeom prst="rect">
            <a:avLst/>
          </a:prstGeom>
          <a:solidFill>
            <a:srgbClr val="3B445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29400" y="1417320"/>
            <a:ext cx="4830775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C9D1DC"/>
                </a:solidFill>
                <a:latin typeface="Calibri"/>
              </a:rPr>
              <a:t>Terminal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1737360"/>
            <a:ext cx="4830775" cy="24963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C96A8"/>
                </a:solidFill>
                <a:latin typeface="Consolas"/>
              </a:rPr>
              <a:t>$ </a:t>
            </a:r>
            <a:r>
              <a:rPr sz="1300" b="0" i="0">
                <a:solidFill>
                  <a:srgbClr val="E6EAF0"/>
                </a:solidFill>
                <a:latin typeface="Consolas"/>
              </a:rPr>
              <a:t>docker build -t converter .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C96A8"/>
                </a:solidFill>
                <a:latin typeface="Consolas"/>
              </a:rPr>
              <a:t>$ </a:t>
            </a:r>
            <a:r>
              <a:rPr sz="1300" b="0" i="0">
                <a:solidFill>
                  <a:srgbClr val="E6EAF0"/>
                </a:solidFill>
                <a:latin typeface="Consolas"/>
              </a:rPr>
              <a:t>docker run -it converter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A8D08D"/>
                </a:solidFill>
                <a:latin typeface="Consolas"/>
              </a:rPr>
              <a:t>=== Celsius to Fahrenheit converter ===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A8D08D"/>
                </a:solidFill>
                <a:latin typeface="Consolas"/>
              </a:rPr>
              <a:t>Enter a temperature in Celsius: </a:t>
            </a:r>
            <a:r>
              <a:rPr sz="1300" b="0" i="0">
                <a:solidFill>
                  <a:srgbClr val="E6EAF0"/>
                </a:solidFill>
                <a:latin typeface="Consolas"/>
              </a:rPr>
              <a:t>100</a:t>
            </a:r>
          </a:p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A8D08D"/>
                </a:solidFill>
                <a:latin typeface="Consolas"/>
              </a:rPr>
              <a:t>100.0 C = 212.0 F</a:t>
            </a:r>
          </a:p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0A0A0A"/>
                </a:solidFill>
                <a:latin typeface="Calibri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C96A8"/>
                </a:solidFill>
                <a:latin typeface="Consolas"/>
              </a:rPr>
              <a:t>$ </a:t>
            </a:r>
            <a:r>
              <a:rPr sz="1300" b="0" i="0">
                <a:solidFill>
                  <a:srgbClr val="E6EAF0"/>
                </a:solidFill>
                <a:latin typeface="Consolas"/>
              </a:rPr>
              <a:t>git add .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C96A8"/>
                </a:solidFill>
                <a:latin typeface="Consolas"/>
              </a:rPr>
              <a:t>$ </a:t>
            </a:r>
            <a:r>
              <a:rPr sz="1300" b="0" i="0">
                <a:solidFill>
                  <a:srgbClr val="E6EAF0"/>
                </a:solidFill>
                <a:latin typeface="Consolas"/>
              </a:rPr>
              <a:t>git commit -m "Task 2 done"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46520" y="4572000"/>
            <a:ext cx="5196535" cy="160020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20840" y="4754880"/>
            <a:ext cx="464789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00204D"/>
                </a:solidFill>
                <a:latin typeface="Arial"/>
              </a:rPr>
              <a:t>Test a few more values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193792"/>
            <a:ext cx="4647895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A0A0A"/>
                </a:solidFill>
                <a:latin typeface="Consolas"/>
              </a:rPr>
              <a:t>  0 °C  →  32.0 °F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A0A0A"/>
                </a:solidFill>
                <a:latin typeface="Consolas"/>
              </a:rPr>
              <a:t> 37 °C  →  98.6 °F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0A0A0A"/>
                </a:solidFill>
                <a:latin typeface="Consolas"/>
              </a:rPr>
              <a:t>-40 °C  → -40.0 °F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· Your own web server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317175" y="475488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041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17175" y="4754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4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335024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35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07592"/>
            <a:ext cx="5212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last task: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../task3-webserver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002536"/>
            <a:ext cx="5212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15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server.c</a:t>
            </a: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change the text of </a:t>
            </a:r>
            <a:r>
              <a:rPr lang="en-US" sz="15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(line 16). Plain text only — no HTML.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706624"/>
            <a:ext cx="5212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image: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webserver 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401568"/>
            <a:ext cx="5212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 a port mapping: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8000:8080 webserver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123944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123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096512"/>
            <a:ext cx="52120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this in your browser and refresh a few times. Watch the terminal!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u="sng" dirty="0">
                <a:solidFill>
                  <a:srgbClr val="00438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http://localhost:8000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093208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06577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server with </a:t>
            </a: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C</a:t>
            </a:r>
            <a:r>
              <a:rPr lang="en-US" sz="1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save: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"Task 3 done"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6520" y="1325880"/>
            <a:ext cx="5196535" cy="868680"/>
          </a:xfrm>
          <a:prstGeom prst="roundRect">
            <a:avLst>
              <a:gd name="adj" fmla="val 8421"/>
            </a:avLst>
          </a:prstGeom>
          <a:solidFill>
            <a:srgbClr val="2E3641"/>
          </a:solidFill>
          <a:ln w="12700">
            <a:solidFill>
              <a:srgbClr val="2E364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56248" y="1417320"/>
            <a:ext cx="1783080" cy="256032"/>
          </a:xfrm>
          <a:prstGeom prst="rect">
            <a:avLst/>
          </a:prstGeom>
          <a:solidFill>
            <a:srgbClr val="3B4452"/>
          </a:solidFill>
          <a:ln w="12700">
            <a:solidFill>
              <a:srgbClr val="3B44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1417320"/>
            <a:ext cx="4830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server.c  ·  line 16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1737360"/>
            <a:ext cx="4830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FB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 </a:t>
            </a: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*MESSAGE = </a:t>
            </a:r>
            <a:r>
              <a:rPr lang="en-US" sz="1200" dirty="0">
                <a:solidFill>
                  <a:srgbClr val="A8D0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from my C web server!"</a:t>
            </a:r>
            <a:r>
              <a:rPr lang="en-US" sz="12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46520" y="2468880"/>
            <a:ext cx="5196535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 w="19050">
            <a:solidFill>
              <a:srgbClr val="C4CF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3063240"/>
            <a:ext cx="1645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00204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30632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</a:t>
            </a:r>
            <a:r>
              <a:rPr lang="en-US" sz="1300" b="1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768535" y="2880360"/>
            <a:ext cx="1645920" cy="1691640"/>
          </a:xfrm>
          <a:prstGeom prst="roundRect">
            <a:avLst>
              <a:gd name="adj" fmla="val 4444"/>
            </a:avLst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68535" y="2880360"/>
            <a:ext cx="1645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b="1" kern="0" spc="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./server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</a:t>
            </a:r>
            <a:r>
              <a:rPr lang="en-US" sz="1300" b="1" dirty="0">
                <a:solidFill>
                  <a:srgbClr val="FF9A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3291840"/>
            <a:ext cx="1356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8000:8080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12480" y="3749040"/>
            <a:ext cx="1264615" cy="0"/>
          </a:xfrm>
          <a:prstGeom prst="line">
            <a:avLst/>
          </a:prstGeom>
          <a:noFill/>
          <a:ln w="38100">
            <a:solidFill>
              <a:srgbClr val="E04130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6446520" y="4892040"/>
            <a:ext cx="51965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8000:8080</a:t>
            </a: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r>
              <a:rPr lang="en-US" sz="1700" b="1" dirty="0">
                <a:solidFill>
                  <a:srgbClr val="E04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HostPort</a:t>
            </a:r>
            <a:r>
              <a:rPr lang="en-US" sz="17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700" b="1" dirty="0">
                <a:solidFill>
                  <a:srgbClr val="E04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ContainerPort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port on your laptop (what you open in the browser)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8080</a:t>
            </a: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port the server listens on inside the container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54864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0" y="6400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Tutorial  |  TA: Umid Huseynov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1274552" y="6400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0" name="Rounded Rectangle 39"/>
          <p:cNvSpPr/>
          <p:nvPr/>
        </p:nvSpPr>
        <p:spPr>
          <a:xfrm>
            <a:off x="7711135" y="475488"/>
            <a:ext cx="2423160" cy="420624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11135" y="475488"/>
            <a:ext cx="24231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E04130"/>
                </a:solidFill>
                <a:latin typeface="Calibri"/>
              </a:rPr>
              <a:t>Try it yourself first!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· Your own web server</a:t>
            </a:r>
            <a:endParaRPr lang="en-US" sz="3400" dirty="0"/>
          </a:p>
        </p:txBody>
      </p:sp>
      <p:sp>
        <p:nvSpPr>
          <p:cNvPr id="36" name="Shape 3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54864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0" y="6400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Tutorial  |  TA: Umid Huseynov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1274552" y="6400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0" name="Rounded Rectangle 39"/>
          <p:cNvSpPr/>
          <p:nvPr/>
        </p:nvSpPr>
        <p:spPr>
          <a:xfrm>
            <a:off x="10317175" y="475488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00204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17175" y="475488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1325880"/>
            <a:ext cx="5760720" cy="2880360"/>
          </a:xfrm>
          <a:prstGeom prst="roundRect">
            <a:avLst>
              <a:gd name="adj" fmla="val 2539"/>
            </a:avLst>
          </a:prstGeom>
          <a:solidFill>
            <a:srgbClr val="2E36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58368" y="1417320"/>
            <a:ext cx="850392" cy="256032"/>
          </a:xfrm>
          <a:prstGeom prst="rect">
            <a:avLst/>
          </a:prstGeom>
          <a:solidFill>
            <a:srgbClr val="3B445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1417320"/>
            <a:ext cx="5394959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C9D1DC"/>
                </a:solidFill>
                <a:latin typeface="Calibri"/>
              </a:rPr>
              <a:t>Terminal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1737360"/>
            <a:ext cx="5394959" cy="23591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C96A8"/>
                </a:solidFill>
                <a:latin typeface="Consolas"/>
              </a:rPr>
              <a:t>$ </a:t>
            </a:r>
            <a:r>
              <a:rPr sz="1200" b="0" i="0">
                <a:solidFill>
                  <a:srgbClr val="E6EAF0"/>
                </a:solidFill>
                <a:latin typeface="Consolas"/>
              </a:rPr>
              <a:t>docker build -t webserver 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C96A8"/>
                </a:solidFill>
                <a:latin typeface="Consolas"/>
              </a:rPr>
              <a:t>$ </a:t>
            </a:r>
            <a:r>
              <a:rPr sz="1200" b="0" i="0">
                <a:solidFill>
                  <a:srgbClr val="E6EAF0"/>
                </a:solidFill>
                <a:latin typeface="Consolas"/>
              </a:rPr>
              <a:t>docker run -p 8000:8080 webserver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8D08D"/>
                </a:solidFill>
                <a:latin typeface="Consolas"/>
              </a:rPr>
              <a:t>Server is listening on port 8080 inside the container...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8D08D"/>
                </a:solidFill>
                <a:latin typeface="Consolas"/>
              </a:rPr>
              <a:t>Answered visitor number 1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8D08D"/>
                </a:solidFill>
                <a:latin typeface="Consolas"/>
              </a:rPr>
              <a:t>Answered visitor number 2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C96A8"/>
                </a:solidFill>
                <a:latin typeface="Consolas"/>
              </a:rPr>
              <a:t>^C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A0A0A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C96A8"/>
                </a:solidFill>
                <a:latin typeface="Consolas"/>
              </a:rPr>
              <a:t>$ </a:t>
            </a:r>
            <a:r>
              <a:rPr sz="1200" b="0" i="0">
                <a:solidFill>
                  <a:srgbClr val="E6EAF0"/>
                </a:solidFill>
                <a:latin typeface="Consolas"/>
              </a:rPr>
              <a:t>git add 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C96A8"/>
                </a:solidFill>
                <a:latin typeface="Consolas"/>
              </a:rPr>
              <a:t>$ </a:t>
            </a:r>
            <a:r>
              <a:rPr sz="1200" b="0" i="0">
                <a:solidFill>
                  <a:srgbClr val="E6EAF0"/>
                </a:solidFill>
                <a:latin typeface="Consolas"/>
              </a:rPr>
              <a:t>git commit -m "Task 3 done"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434840"/>
            <a:ext cx="5760720" cy="1737360"/>
          </a:xfrm>
          <a:prstGeom prst="roundRect">
            <a:avLst>
              <a:gd name="adj" fmla="val 5263"/>
            </a:avLst>
          </a:prstGeom>
          <a:solidFill>
            <a:srgbClr val="F2F5F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59" y="46177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00204D"/>
                </a:solidFill>
                <a:latin typeface="Arial"/>
              </a:rPr>
              <a:t>What happened?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59" y="5029200"/>
            <a:ext cx="5212080" cy="10058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0A0A0A"/>
                </a:solidFill>
                <a:latin typeface="Calibri"/>
              </a:rPr>
              <a:t>Your browser asked </a:t>
            </a:r>
            <a:r>
              <a:rPr sz="1400" b="0" i="0">
                <a:solidFill>
                  <a:srgbClr val="0A0A0A"/>
                </a:solidFill>
                <a:latin typeface="Consolas"/>
              </a:rPr>
              <a:t>localhost:8000</a:t>
            </a:r>
            <a:r>
              <a:rPr sz="1500" b="0" i="0">
                <a:solidFill>
                  <a:srgbClr val="0A0A0A"/>
                </a:solidFill>
                <a:latin typeface="Calibri"/>
              </a:rPr>
              <a:t>. Docker forwarded it to port </a:t>
            </a:r>
            <a:r>
              <a:rPr sz="1400" b="0" i="0">
                <a:solidFill>
                  <a:srgbClr val="0A0A0A"/>
                </a:solidFill>
                <a:latin typeface="Consolas"/>
              </a:rPr>
              <a:t>8080</a:t>
            </a:r>
            <a:r>
              <a:rPr sz="1500" b="0" i="0">
                <a:solidFill>
                  <a:srgbClr val="0A0A0A"/>
                </a:solidFill>
                <a:latin typeface="Calibri"/>
              </a:rPr>
              <a:t> inside the container, and server.c answered with your MESSAGE. Every answer is printed in the terminal. </a:t>
            </a:r>
            <a:r>
              <a:rPr sz="1500" b="1" i="0">
                <a:solidFill>
                  <a:srgbClr val="0A0A0A"/>
                </a:solidFill>
                <a:latin typeface="Calibri"/>
              </a:rPr>
              <a:t>Ctrl + C</a:t>
            </a:r>
            <a:r>
              <a:rPr sz="1500" b="0" i="0">
                <a:solidFill>
                  <a:srgbClr val="0A0A0A"/>
                </a:solidFill>
                <a:latin typeface="Calibri"/>
              </a:rPr>
              <a:t> stops the server.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0" y="1325880"/>
            <a:ext cx="5059375" cy="868680"/>
          </a:xfrm>
          <a:prstGeom prst="roundRect">
            <a:avLst>
              <a:gd name="adj" fmla="val 8421"/>
            </a:avLst>
          </a:prstGeom>
          <a:solidFill>
            <a:srgbClr val="2E364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693408" y="1417320"/>
            <a:ext cx="2638044" cy="256032"/>
          </a:xfrm>
          <a:prstGeom prst="rect">
            <a:avLst/>
          </a:prstGeom>
          <a:solidFill>
            <a:srgbClr val="3B445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66560" y="1417320"/>
            <a:ext cx="4693615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C9D1DC"/>
                </a:solidFill>
                <a:latin typeface="Calibri"/>
              </a:rPr>
              <a:t>server.c  ·  line 16  (example)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1737360"/>
            <a:ext cx="4693615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7FB4F0"/>
                </a:solidFill>
                <a:latin typeface="Consolas"/>
              </a:rPr>
              <a:t>const char </a:t>
            </a:r>
            <a:r>
              <a:rPr sz="1150" b="0" i="0">
                <a:solidFill>
                  <a:srgbClr val="E6EAF0"/>
                </a:solidFill>
                <a:latin typeface="Consolas"/>
              </a:rPr>
              <a:t>*MESSAGE = </a:t>
            </a:r>
            <a:r>
              <a:rPr sz="1150" b="0" i="0">
                <a:solidFill>
                  <a:srgbClr val="A8D08D"/>
                </a:solidFill>
                <a:latin typeface="Consolas"/>
              </a:rPr>
              <a:t>"Hi from Umid's container!"</a:t>
            </a:r>
            <a:r>
              <a:rPr sz="1150" b="0" i="0">
                <a:solidFill>
                  <a:srgbClr val="E6EAF0"/>
                </a:solidFill>
                <a:latin typeface="Consolas"/>
              </a:rPr>
              <a:t>;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2468880"/>
            <a:ext cx="5059375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9050">
            <a:solidFill>
              <a:srgbClr val="C4CFD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601968" y="2487168"/>
            <a:ext cx="5022799" cy="457200"/>
          </a:xfrm>
          <a:prstGeom prst="roundRect">
            <a:avLst>
              <a:gd name="adj" fmla="val 18000"/>
            </a:avLst>
          </a:prstGeom>
          <a:solidFill>
            <a:srgbClr val="F2F5F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601968" y="2743200"/>
            <a:ext cx="5022799" cy="21945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784848" y="2651760"/>
            <a:ext cx="118872" cy="118872"/>
          </a:xfrm>
          <a:prstGeom prst="ellipse">
            <a:avLst/>
          </a:prstGeom>
          <a:solidFill>
            <a:srgbClr val="E06C5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986016" y="2651760"/>
            <a:ext cx="118872" cy="118872"/>
          </a:xfrm>
          <a:prstGeom prst="ellipse">
            <a:avLst/>
          </a:prstGeom>
          <a:solidFill>
            <a:srgbClr val="E5C07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187184" y="2651760"/>
            <a:ext cx="118872" cy="118872"/>
          </a:xfrm>
          <a:prstGeom prst="ellipse">
            <a:avLst/>
          </a:prstGeom>
          <a:solidFill>
            <a:srgbClr val="8CC5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498079" y="2569464"/>
            <a:ext cx="387065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680960" y="2569464"/>
            <a:ext cx="3596335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0" i="0">
                <a:solidFill>
                  <a:srgbClr val="5B6472"/>
                </a:solidFill>
                <a:latin typeface="Calibri"/>
              </a:rPr>
              <a:t>localhost:8000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3246120"/>
            <a:ext cx="4419295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A0A0A"/>
                </a:solidFill>
                <a:latin typeface="Consolas"/>
              </a:rPr>
              <a:t>Hi from Umid's container!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0A0A0A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0A0A0A"/>
                </a:solidFill>
                <a:latin typeface="Consolas"/>
              </a:rPr>
              <a:t>You are visitor number 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 done! What you practised today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3401568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04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build -t NAME .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an image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04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run NAME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a container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04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run -it NAME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…that you can type into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04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run -p 8000:8080 NAME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…with a port opened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04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images  /  docker ps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images / containers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E041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add .  +  git commit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A0A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your 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73152" marT="36576" marB="36576" anchor="ctr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92240" y="1371600"/>
            <a:ext cx="5150815" cy="4343400"/>
          </a:xfrm>
          <a:prstGeom prst="roundRect">
            <a:avLst>
              <a:gd name="adj" fmla="val 2105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 txBox="1"/>
          <p:nvPr/>
        </p:nvSpPr>
        <p:spPr>
          <a:xfrm>
            <a:off x="6766560" y="1554480"/>
            <a:ext cx="4602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Try these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766560" y="2157984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6766560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2130552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inside your image, then type </a:t>
            </a:r>
            <a:r>
              <a:rPr lang="en-US" sz="14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-it hello bash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766560" y="2907792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6766560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880360"/>
            <a:ext cx="423641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server in the background, find its ID, stop it: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8000:8080 webserver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&lt;ID&gt;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766560" y="4169664"/>
            <a:ext cx="310896" cy="310896"/>
          </a:xfrm>
          <a:prstGeom prst="ellipse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0"/>
          <p:cNvSpPr txBox="1"/>
          <p:nvPr/>
        </p:nvSpPr>
        <p:spPr>
          <a:xfrm>
            <a:off x="6766560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4142232"/>
            <a:ext cx="423641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one server runs, start a second one on port 8001 in another terminal. Does each one count its own visitors? Why?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041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8001:8080 webserver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204D"/>
          </a:solidFill>
          <a:ln w="12700">
            <a:solidFill>
              <a:srgbClr val="0020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548640" y="6400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UNIVERSITY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6400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Tutorial  |  TA: Umid Huseynov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400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3791</Words>
  <Application>Microsoft Office PowerPoint</Application>
  <PresentationFormat>Широкоэкранный</PresentationFormat>
  <Paragraphs>451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Practice Session</dc:title>
  <dc:subject>PptxGenJS Presentation</dc:subject>
  <dc:creator>Umid Huseynov</dc:creator>
  <cp:lastModifiedBy>User</cp:lastModifiedBy>
  <cp:revision>5</cp:revision>
  <dcterms:created xsi:type="dcterms:W3CDTF">2026-09-30T14:54:08Z</dcterms:created>
  <dcterms:modified xsi:type="dcterms:W3CDTF">2026-10-05T09:31:52Z</dcterms:modified>
</cp:coreProperties>
</file>